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数据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幼儿园数量</c:v>
                </c:pt>
                <c:pt idx="1">
                  <c:v>民营园占比</c:v>
                </c:pt>
                <c:pt idx="2">
                  <c:v>市场规模(百亿)</c:v>
                </c:pt>
                <c:pt idx="3">
                  <c:v>年增速(%)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60</c:v>
                </c:pt>
                <c:pt idx="2">
                  <c:v>3</c:v>
                </c:pt>
                <c:pt idx="3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时间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重复事务</c:v>
                </c:pt>
                <c:pt idx="1">
                  <c:v>教学陪伴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效率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AI完成</c:v>
                </c:pt>
                <c:pt idx="1">
                  <c:v>人工处理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资金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产品研发</c:v>
                </c:pt>
                <c:pt idx="1">
                  <c:v>市场拓展</c:v>
                </c:pt>
                <c:pt idx="2">
                  <c:v>团队建设</c:v>
                </c:pt>
                <c:pt idx="3">
                  <c:v>运营储备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35</c:v>
                </c:pt>
                <c:pt idx="2">
                  <c:v>20</c:v>
                </c:pt>
                <c:pt idx="3">
                  <c:v>5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341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OpenClaw 幼儿园 AI 数字员工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D4AF37"/>
                </a:solidFill>
              </a:defRPr>
            </a:pPr>
            <a:r>
              <a:t>商业计划书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404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📊 市场规模（数据可视化）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54864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1371600"/>
            <a:ext cx="5486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B4A"/>
                </a:solidFill>
              </a:defRPr>
            </a:pPr>
            <a:r>
              <a:t>🚀 市场机会</a:t>
            </a:r>
          </a:p>
          <a:p>
            <a:pPr>
              <a:defRPr sz="1600">
                <a:solidFill>
                  <a:srgbClr val="2D3445"/>
                </a:solidFill>
              </a:defRPr>
            </a:pPr>
            <a:r>
              <a:t>• 国内幼儿园超 28 万所</a:t>
            </a:r>
          </a:p>
          <a:p>
            <a:pPr>
              <a:defRPr sz="1600">
                <a:solidFill>
                  <a:srgbClr val="2D3445"/>
                </a:solidFill>
              </a:defRPr>
            </a:pPr>
            <a:r>
              <a:t>• 民营园占比超 60%</a:t>
            </a:r>
          </a:p>
          <a:p>
            <a:pPr>
              <a:defRPr sz="1600">
                <a:solidFill>
                  <a:srgbClr val="2D3445"/>
                </a:solidFill>
              </a:defRPr>
            </a:pPr>
            <a:r>
              <a:t>• 市场规模超 300 亿元</a:t>
            </a:r>
          </a:p>
          <a:p>
            <a:pPr>
              <a:defRPr sz="1600">
                <a:solidFill>
                  <a:srgbClr val="2D3445"/>
                </a:solidFill>
              </a:defRPr>
            </a:pPr>
            <a:r>
              <a:t>• 年复合增长率 15%+</a:t>
            </a:r>
          </a:p>
          <a:p>
            <a:pPr>
              <a:defRPr sz="1600">
                <a:solidFill>
                  <a:srgbClr val="2D3445"/>
                </a:solidFill>
              </a:defRPr>
            </a:pPr>
          </a:p>
          <a:p>
            <a:pPr>
              <a:defRPr sz="1600">
                <a:solidFill>
                  <a:srgbClr val="2D3445"/>
                </a:solidFill>
              </a:defRPr>
            </a:pPr>
            <a:r>
              <a:t>⚡ AI 渗透率不足 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sin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😫 教师工作时间分配（数据可视化）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45720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0" y="1371600"/>
            <a:ext cx="6400800" cy="41148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645920"/>
            <a:ext cx="5943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B4A"/>
                </a:solidFill>
              </a:defRPr>
            </a:pPr>
            <a:r>
              <a:t>💡 核心痛点</a:t>
            </a:r>
          </a:p>
          <a:p>
            <a:pPr>
              <a:defRPr sz="1600">
                <a:solidFill>
                  <a:srgbClr val="2D3445"/>
                </a:solidFill>
              </a:defRPr>
            </a:pPr>
            <a:r>
              <a:t>80% 时间消耗在：</a:t>
            </a:r>
          </a:p>
          <a:p>
            <a:pPr>
              <a:defRPr sz="1600">
                <a:solidFill>
                  <a:srgbClr val="2D3445"/>
                </a:solidFill>
              </a:defRPr>
            </a:pPr>
            <a:r>
              <a:t>• 周报撰写</a:t>
            </a:r>
          </a:p>
          <a:p>
            <a:pPr>
              <a:defRPr sz="1600">
                <a:solidFill>
                  <a:srgbClr val="2D3445"/>
                </a:solidFill>
              </a:defRPr>
            </a:pPr>
            <a:r>
              <a:t>• 通知发布</a:t>
            </a:r>
          </a:p>
          <a:p>
            <a:pPr>
              <a:defRPr sz="1600">
                <a:solidFill>
                  <a:srgbClr val="2D3445"/>
                </a:solidFill>
              </a:defRPr>
            </a:pPr>
            <a:r>
              <a:t>• 考勤统计</a:t>
            </a:r>
          </a:p>
          <a:p>
            <a:pPr>
              <a:defRPr sz="1600">
                <a:solidFill>
                  <a:srgbClr val="2D3445"/>
                </a:solidFill>
              </a:defRPr>
            </a:pPr>
            <a:r>
              <a:t>• 家长答疑</a:t>
            </a:r>
          </a:p>
          <a:p>
            <a:pPr>
              <a:defRPr sz="1600">
                <a:solidFill>
                  <a:srgbClr val="2D3445"/>
                </a:solidFill>
              </a:defRPr>
            </a:pPr>
          </a:p>
          <a:p>
            <a:pPr>
              <a:defRPr sz="1600">
                <a:solidFill>
                  <a:srgbClr val="2D3445"/>
                </a:solidFill>
              </a:defRPr>
            </a:pPr>
            <a:r>
              <a:t>解决方案：AI 自动化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🏗️ 产品架构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332720" cy="1097280"/>
          </a:xfrm>
          <a:prstGeom prst="round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📱 交互端：微信/企业微信 + 园长后台 + 家长小程序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0332720" cy="1097280"/>
          </a:xfrm>
          <a:prstGeom prst="roundRect">
            <a:avLst/>
          </a:prstGeom>
          <a:solidFill>
            <a:srgbClr val="005AB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⚙️ 技能库：家园沟通 + 保教管理 + 行政后勤 + 安全合规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389120"/>
            <a:ext cx="10332720" cy="1097280"/>
          </a:xfrm>
          <a:prstGeom prst="roundRect">
            <a:avLst/>
          </a:prstGeom>
          <a:solidFill>
            <a:srgbClr val="1A2B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🔧 引擎：OpenClaw + 国产大模型（通义千问/Qwen/文心一言）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404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📦 MVP 核心功能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36576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754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AI 提升效率 80%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2377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82880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D3445"/>
                </a:solidFill>
              </a:defRPr>
            </a:pPr>
            <a:r>
              <a:t>🏠 家园智能助手</a:t>
            </a:r>
            <a:br/>
            <a:br/>
            <a:r>
              <a:t>周报/食谱/考勤 自动生成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645920"/>
            <a:ext cx="2377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182880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D3445"/>
                </a:solidFill>
              </a:defRPr>
            </a:pPr>
            <a:r>
              <a:t>📚 保教自动化</a:t>
            </a:r>
            <a:br/>
            <a:br/>
            <a:r>
              <a:t>教案/活动方案/评估报告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1645920"/>
            <a:ext cx="2377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9800" y="182880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D3445"/>
                </a:solidFill>
              </a:defRPr>
            </a:pPr>
            <a:r>
              <a:t>🍽️ 后勤自动化</a:t>
            </a:r>
            <a:br/>
            <a:br/>
            <a:r>
              <a:t>排班/食谱/采购/账单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dark_bl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📅 产品迭代路线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743200"/>
            <a:ext cx="640080" cy="640080"/>
          </a:xfrm>
          <a:prstGeom prst="ellipse">
            <a:avLst/>
          </a:prstGeom>
          <a:solidFill>
            <a:srgbClr val="D4AF3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3017520"/>
            <a:ext cx="3017520" cy="91440"/>
          </a:xfrm>
          <a:prstGeom prst="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4AF37"/>
                </a:solidFill>
              </a:defRPr>
            </a:pPr>
            <a:r>
              <a:t>0-3月</a:t>
            </a:r>
            <a:br/>
            <a:r>
              <a:t>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FFFFFF"/>
                </a:solidFill>
              </a:defRPr>
            </a:pPr>
            <a:r>
              <a:t>• 核心3模块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• 5分钟部署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• 5家种子园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2743200"/>
            <a:ext cx="640080" cy="640080"/>
          </a:xfrm>
          <a:prstGeom prst="ellipse">
            <a:avLst/>
          </a:prstGeom>
          <a:solidFill>
            <a:srgbClr val="005AB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0" y="3017520"/>
            <a:ext cx="3017520" cy="91440"/>
          </a:xfrm>
          <a:prstGeom prst="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566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ABE"/>
                </a:solidFill>
              </a:defRPr>
            </a:pPr>
            <a:r>
              <a:t>3-6月</a:t>
            </a:r>
            <a:br/>
            <a:r>
              <a:t>完善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1148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FFFFFF"/>
                </a:solidFill>
              </a:defRPr>
            </a:pPr>
            <a:r>
              <a:t>• 安全合规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• 集团版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• 50家园所</a:t>
            </a:r>
          </a:p>
        </p:txBody>
      </p:sp>
      <p:sp>
        <p:nvSpPr>
          <p:cNvPr id="15" name="Oval 14"/>
          <p:cNvSpPr/>
          <p:nvPr/>
        </p:nvSpPr>
        <p:spPr>
          <a:xfrm>
            <a:off x="8595360" y="2743200"/>
            <a:ext cx="640080" cy="64008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3566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</a:defRPr>
            </a:pPr>
            <a:r>
              <a:t>6-12月</a:t>
            </a:r>
            <a:br/>
            <a:r>
              <a:t>生态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1148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FFFFFF"/>
                </a:solidFill>
              </a:defRPr>
            </a:pPr>
            <a:r>
              <a:t>• 家长增值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• 技能商店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• 200家园所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sin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💰 商业模式（四层变现）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645920"/>
            <a:ext cx="10972800" cy="914400"/>
          </a:xfrm>
          <a:prstGeom prst="roundRect">
            <a:avLst/>
          </a:prstGeom>
          <a:solidFill>
            <a:srgbClr val="1A2B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💳 基础层：B端SaaS</a:t>
            </a:r>
            <a:br/>
            <a:r>
              <a:t>2980-29800元/园/年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10515600" cy="914400"/>
          </a:xfrm>
          <a:prstGeom prst="roundRect">
            <a:avLst/>
          </a:prstGeom>
          <a:solidFill>
            <a:srgbClr val="005AB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🔧 增值层：服务</a:t>
            </a:r>
            <a:br/>
            <a:r>
              <a:t>1800-20000元/次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45920"/>
            <a:ext cx="10058400" cy="914400"/>
          </a:xfrm>
          <a:prstGeom prst="round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828800"/>
            <a:ext cx="9509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🌐 生态层：B2B2C</a:t>
            </a:r>
            <a:br/>
            <a:r>
              <a:t>30-98元/月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1645920"/>
            <a:ext cx="9601200" cy="914400"/>
          </a:xfrm>
          <a:prstGeom prst="round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1828800"/>
            <a:ext cx="9052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🏛️ 平台层：生态</a:t>
            </a:r>
            <a:br/>
            <a:r>
              <a:t>15-30% 佣金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📈 盈利测算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9144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园所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订阅营收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增值服务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总营收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2D3445"/>
                          </a:solidFill>
                        </a:defRPr>
                      </a:pPr>
                      <a:r>
                        <a:t>0-3月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2D3445"/>
                          </a:solidFill>
                        </a:defRPr>
                      </a:pPr>
                      <a:r>
                        <a:t>5家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2D344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2D344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2D344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2D3445"/>
                          </a:solidFill>
                        </a:defRPr>
                      </a:pPr>
                      <a:r>
                        <a:t>3-6月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2D3445"/>
                          </a:solidFill>
                        </a:defRPr>
                      </a:pPr>
                      <a:r>
                        <a:t>50家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2D3445"/>
                          </a:solidFill>
                        </a:defRPr>
                      </a:pPr>
                      <a:r>
                        <a:t>20万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2D3445"/>
                          </a:solidFill>
                        </a:defRPr>
                      </a:pPr>
                      <a:r>
                        <a:t>5万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2D3445"/>
                          </a:solidFill>
                        </a:defRPr>
                      </a:pPr>
                      <a:r>
                        <a:t>25万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2D3445"/>
                          </a:solidFill>
                        </a:defRPr>
                      </a:pPr>
                      <a:r>
                        <a:t>6-12月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2D3445"/>
                          </a:solidFill>
                        </a:defRPr>
                      </a:pPr>
                      <a:r>
                        <a:t>200家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2D3445"/>
                          </a:solidFill>
                        </a:defRPr>
                      </a:pPr>
                      <a:r>
                        <a:t>100万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2D3445"/>
                          </a:solidFill>
                        </a:defRPr>
                      </a:pPr>
                      <a:r>
                        <a:t>40万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2D3445"/>
                          </a:solidFill>
                        </a:defRPr>
                      </a:pPr>
                      <a:r>
                        <a:t>140万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dark_bl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💼 融资计划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828800"/>
            <a:ext cx="8503920" cy="1828800"/>
          </a:xfrm>
          <a:prstGeom prst="roundRect">
            <a:avLst/>
          </a:prstGeom>
          <a:solidFill>
            <a:srgbClr val="1A2B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2860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D4AF37"/>
                </a:solidFill>
              </a:defRPr>
            </a:pPr>
            <a:r>
              <a:t>500-1000万 天使轮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出让 10%-15% 股权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0" y="3931920"/>
          <a:ext cx="484632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dark_bl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46320" y="1828800"/>
            <a:ext cx="2468880" cy="246888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携手共创幼教 AI 新未来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4AF37"/>
                </a:solidFill>
              </a:defRPr>
            </a:pPr>
            <a:r>
              <a:t>让 AI 成为每位幼儿教师的得力助手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